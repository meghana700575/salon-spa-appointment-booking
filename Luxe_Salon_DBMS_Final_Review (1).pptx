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Luxe Salon &amp; Spa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3F0E8"/>
                </a:solidFill>
              </a:rPr>
              <a:t>Appointment and Database Management System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BBB0"/>
                </a:solidFill>
              </a:rPr>
              <a:t>DBMS Project 66 · Final Review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12231D"/>
          </a:solidFill>
          <a:ln w="12700">
            <a:solidFill>
              <a:srgbClr val="3151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37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F0E8"/>
                </a:solidFill>
              </a:rPr>
              <a:t>tables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329184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12231D"/>
          </a:solidFill>
          <a:ln w="12700">
            <a:solidFill>
              <a:srgbClr val="3151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3337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F0E8"/>
                </a:solidFill>
              </a:rPr>
              <a:t>views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329184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12231D"/>
          </a:solidFill>
          <a:ln w="12700">
            <a:solidFill>
              <a:srgbClr val="3151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3337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F0E8"/>
                </a:solidFill>
              </a:rPr>
              <a:t>triggers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329184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12231D"/>
          </a:solidFill>
          <a:ln w="12700">
            <a:solidFill>
              <a:srgbClr val="3151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3337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F0E8"/>
                </a:solidFill>
              </a:rPr>
              <a:t>tests passed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Problem, solution and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3F0E8"/>
                </a:solidFill>
              </a:rPr>
              <a:t>Paper/spreadsheet books allow double booking and have no skill or schedule checks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3F0E8"/>
                </a:solidFill>
              </a:rPr>
              <a:t>Customer data is duplicated; revenue and stock reports are slow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3F0E8"/>
                </a:solidFill>
              </a:rPr>
              <a:t>Solution: a normalized PostgreSQL database that rejects invalid bookings itself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3F0E8"/>
                </a:solidFill>
              </a:rPr>
              <a:t>Flask API with plain parameterized SQL and explicit transactions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3F0E8"/>
                </a:solidFill>
              </a:rPr>
              <a:t>Vanilla JS app with customer, staff and administrator views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0" y="1188720"/>
            <a:ext cx="3657600" cy="685800"/>
          </a:xfrm>
          <a:prstGeom prst="roundRect">
            <a:avLst>
              <a:gd name="adj" fmla="val 10667"/>
            </a:avLst>
          </a:prstGeom>
          <a:solidFill>
            <a:srgbClr val="12231D"/>
          </a:solidFill>
          <a:ln w="15875">
            <a:solidFill>
              <a:srgbClr val="3151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0" y="11887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F0E8"/>
                </a:solidFill>
              </a:rPr>
              <a:t>Browser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3F0E8"/>
                </a:solidFill>
              </a:rPr>
              <a:t>HTML / CSS / JS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847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96E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0" y="2103120"/>
            <a:ext cx="3657600" cy="685800"/>
          </a:xfrm>
          <a:prstGeom prst="roundRect">
            <a:avLst>
              <a:gd name="adj" fmla="val 10667"/>
            </a:avLst>
          </a:prstGeom>
          <a:solidFill>
            <a:srgbClr val="12231D"/>
          </a:solidFill>
          <a:ln w="15875">
            <a:solidFill>
              <a:srgbClr val="3151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2103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F0E8"/>
                </a:solidFill>
              </a:rPr>
              <a:t>Flask 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3F0E8"/>
                </a:solidFill>
              </a:rPr>
              <a:t>Python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761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96E"/>
                </a:solidFill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0" y="3017520"/>
            <a:ext cx="3657600" cy="685800"/>
          </a:xfrm>
          <a:prstGeom prst="roundRect">
            <a:avLst>
              <a:gd name="adj" fmla="val 10667"/>
            </a:avLst>
          </a:prstGeom>
          <a:solidFill>
            <a:srgbClr val="12231D"/>
          </a:solidFill>
          <a:ln w="15875">
            <a:solidFill>
              <a:srgbClr val="3151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0" y="30175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F0E8"/>
                </a:solidFill>
              </a:rPr>
              <a:t>Parameterized SQL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3F0E8"/>
                </a:solidFill>
              </a:rPr>
              <a:t>psycopg2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3675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96E"/>
                </a:solidFill>
              </a:rPr>
              <a:t>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3931920"/>
            <a:ext cx="3657600" cy="685800"/>
          </a:xfrm>
          <a:prstGeom prst="roundRect">
            <a:avLst>
              <a:gd name="adj" fmla="val 10667"/>
            </a:avLst>
          </a:prstGeom>
          <a:solidFill>
            <a:srgbClr val="12231D"/>
          </a:solidFill>
          <a:ln w="15875">
            <a:solidFill>
              <a:srgbClr val="C9A9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39319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F0E8"/>
                </a:solidFill>
              </a:rPr>
              <a:t>PostgreSQL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3F0E8"/>
                </a:solidFill>
              </a:rPr>
              <a:t>constraints + triggers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 diagram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B0"/>
                </a:solidFill>
              </a:rPr>
              <a:t>Generated from live PostgreSQL metadata: 20 entities, 21 foreign-key relationships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446872" cy="3520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269832" y="1463040"/>
            <a:ext cx="34169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3F0E8"/>
                </a:solidFill>
              </a:rPr>
              <a:t>Core: customer, staff, service, appointment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3F0E8"/>
                </a:solidFill>
              </a:rPr>
              <a:t>Bridge tables: appointment_service, staff_skill, package_service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3F0E8"/>
                </a:solidFill>
              </a:rPr>
              <a:t>Billing: bill, payment, package_purchase, package_redemption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3F0E8"/>
                </a:solidFill>
              </a:rPr>
              <a:t>Support: staff_schedule, staff_break, product_usage, appointment_cancellation, audit_log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Normalization: UNF to 3NF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B0"/>
                </a:solidFill>
              </a:rPr>
              <a:t>Example: one appointment with several services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12231D"/>
          </a:solidFill>
          <a:ln w="15875">
            <a:solidFill>
              <a:srgbClr val="3151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54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UNF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574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3F0E8"/>
                </a:solidFill>
              </a:rPr>
              <a:t>One row per appointment; services and prices stored as comma lists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42032" y="146304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12231D"/>
          </a:solidFill>
          <a:ln w="15875">
            <a:solidFill>
              <a:srgbClr val="3151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79192" y="1554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1NF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679192" y="20574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3F0E8"/>
                </a:solidFill>
              </a:rPr>
              <a:t>Atomic values: one row per appointment-service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26864" y="146304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12231D"/>
          </a:solidFill>
          <a:ln w="15875">
            <a:solidFill>
              <a:srgbClr val="3151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64024" y="1554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2NF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764024" y="20574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3F0E8"/>
                </a:solidFill>
              </a:rPr>
              <a:t>Remove partial dependencies: customer and service data move to their own tables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11696" y="146304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12231D"/>
          </a:solidFill>
          <a:ln w="15875">
            <a:solidFill>
              <a:srgbClr val="C9A9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48856" y="1554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3NF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848856" y="20574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3F0E8"/>
                </a:solidFill>
              </a:rPr>
              <a:t>Remove transitive dependency appointment → customer_id → name; keep only foreign keys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BB0"/>
                </a:solidFill>
              </a:rPr>
              <a:t>FDs: customer_id → full_name, email, phone · email → customer_id · (appointment_id, service_id) → agreed_price, duration. Price is a deliberate snapshot of the agreed price.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rules enforced by the database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023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512"/>
                          </a:solidFill>
                        </a:rPr>
                        <a:t>Rule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9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512"/>
                          </a:solidFill>
                        </a:rPr>
                        <a:t>Mechanism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9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3F0E8"/>
                          </a:solidFill>
                        </a:rPr>
                        <a:t>No overlapping staff bookings; cancelled slots free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3F0E8"/>
                          </a:solidFill>
                        </a:rPr>
                        <a:t>EXCLUDE (gist, tsrange) WHERE status &lt;&gt; cancelled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1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3F0E8"/>
                          </a:solidFill>
                        </a:rPr>
                        <a:t>Not in past, inside schedule, valid status flow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3F0E8"/>
                          </a:solidFill>
                        </a:rPr>
                        <a:t>trigger trg_appt_validate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1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3F0E8"/>
                          </a:solidFill>
                        </a:rPr>
                        <a:t>Staff must have the skill; no booking in breaks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3F0E8"/>
                          </a:solidFill>
                        </a:rPr>
                        <a:t>triggers trg_appt_skill, trg_appt_break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1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3F0E8"/>
                          </a:solidFill>
                        </a:rPr>
                        <a:t>Stock never negative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3F0E8"/>
                          </a:solidFill>
                        </a:rPr>
                        <a:t>CHECK + trigger trg_usage_stock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1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3F0E8"/>
                          </a:solidFill>
                        </a:rPr>
                        <a:t>Package sessions cannot be over-redeemed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3F0E8"/>
                          </a:solidFill>
                        </a:rPr>
                        <a:t>trigger trg_redeem (row lock)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1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3F0E8"/>
                          </a:solidFill>
                        </a:rPr>
                        <a:t>Payment cannot exceed balance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3F0E8"/>
                          </a:solidFill>
                        </a:rPr>
                        <a:t>trigger trg_payment_check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1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3F0E8"/>
                          </a:solidFill>
                        </a:rPr>
                        <a:t>Atomic booking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3F0E8"/>
                          </a:solidFill>
                        </a:rPr>
                        <a:t>Flask transaction, ROLLBACK on error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51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1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works (tested on PostgreSQL 16)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3F0E8"/>
                </a:solidFill>
              </a:rPr>
              <a:t>Booking: customer → services → qualified staff → free slot → confirmation, saved in one transaction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3F0E8"/>
                </a:solidFill>
              </a:rPr>
              <a:t>Conflicting booking rejected by the database (HTTP 409); cancellation makes the slot bookable again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3F0E8"/>
                </a:solidFill>
              </a:rPr>
              <a:t>Billing with membership discount and 18% tax; payments are simulated, no gateway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3F0E8"/>
                </a:solidFill>
              </a:rPr>
              <a:t>14 reports and 13 SQL Lab queries run against live data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3F0E8"/>
                </a:solidFill>
              </a:rPr>
              <a:t>Database Explorer, Source Explorer (whitelist), ER diagram, Solution page, live SQL log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3F0E8"/>
                </a:solidFill>
              </a:rPr>
              <a:t>CRUD for customers, services, staff, skills and schedules; role views for customer, staff and admin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Testing, limitations and viva demo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A96E"/>
                </a:solidFill>
              </a:rPr>
              <a:t>Testing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3F0E8"/>
                </a:solidFill>
              </a:rPr>
              <a:t>Python unittest on an isolated database: 17 tests, all OK at the last run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3F0E8"/>
                </a:solidFill>
              </a:rPr>
              <a:t>Covers rules, rollback, billing, packages, stock, reports, CRUD, source whitelist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92608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A96E"/>
                </a:solidFill>
              </a:rPr>
              <a:t>Limitations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3F0E8"/>
                </a:solidFill>
              </a:rPr>
              <a:t>Role selector is not authentication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3F0E8"/>
                </a:solidFill>
              </a:rPr>
              <a:t>Payments simulated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3F0E8"/>
                </a:solidFill>
              </a:rPr>
              <a:t>Browser UI not yet tested in a real browser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3F0E8"/>
                </a:solidFill>
              </a:rPr>
              <a:t>Not run on Supabase yet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18872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A96E"/>
                </a:solidFill>
              </a:rPr>
              <a:t>7-step demo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3F0E8"/>
                </a:solidFill>
              </a:rPr>
              <a:t>1. Register a customer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3F0E8"/>
                </a:solidFill>
              </a:rPr>
              <a:t>2. Book an appointment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3F0E8"/>
                </a:solidFill>
              </a:rPr>
              <a:t>3. Inspect the row in Database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3F0E8"/>
                </a:solidFill>
              </a:rPr>
              <a:t>4. Attempt a conflicting booking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3F0E8"/>
                </a:solidFill>
              </a:rPr>
              <a:t>5. Cancel and show slot release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3F0E8"/>
                </a:solidFill>
              </a:rPr>
              <a:t>6. Run a JOIN / revenue query in SQL Lab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3F0E8"/>
                </a:solidFill>
              </a:rPr>
              <a:t>7. Explain schema, normalization, triggers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Luxe Salon &amp; Spa - DBMS Final Review</dc:title>
  <dc:subject>PptxGenJS Presentation</dc:subject>
  <dc:creator>PptxGenJS</dc:creator>
  <cp:lastModifiedBy>PptxGenJS</cp:lastModifiedBy>
  <cp:revision>1</cp:revision>
  <dcterms:created xsi:type="dcterms:W3CDTF">2026-10-16T19:25:19Z</dcterms:created>
  <dcterms:modified xsi:type="dcterms:W3CDTF">2026-10-16T19:25:19Z</dcterms:modified>
</cp:coreProperties>
</file>